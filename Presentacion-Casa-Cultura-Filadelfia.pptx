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3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to-20.jpg"/>
          <p:cNvPicPr>
            <a:picLocks noChangeAspect="1"/>
          </p:cNvPicPr>
          <p:nvPr/>
        </p:nvPicPr>
        <p:blipFill>
          <a:blip r:embed="rId2"/>
          <a:srcRect l="-68516" r="-685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1A10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F4ECDF"/>
                </a:solidFill>
                <a:latin typeface="Trebuchet MS"/>
              </a:rPr>
              <a:t>UNIVERSIDAD DE COSTA RICA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F4ECDF"/>
                </a:solidFill>
                <a:latin typeface="Trebuchet MS"/>
              </a:rPr>
              <a:t>SR-0033 Seminario de Realidad Nacional II · Patrimonio Cultural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Casa de la Cultura de Filadelfia</a:t>
            </a:r>
          </a:p>
          <a:p>
            <a:pPr algn="ctr">
              <a:spcBef>
                <a:spcPts val="1000"/>
              </a:spcBef>
            </a:pPr>
            <a:r>
              <a:rPr sz="1800" b="0" i="1">
                <a:solidFill>
                  <a:srgbClr val="E8DCC4"/>
                </a:solidFill>
                <a:latin typeface="Calibri"/>
              </a:rPr>
              <a:t>Patrimonio histórico-arquitectónico de Guanacaste, Carrillo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F4ECDF"/>
                </a:solidFill>
                <a:latin typeface="Calibri"/>
              </a:rPr>
              <a:t>Keiry Campos Castro · Katherine Polanco Landeros · Karen Picado Espinoza · Kendall Quirós Alvarez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7C4322"/>
                </a:solidFill>
                <a:latin typeface="Trebuchet MS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1">
                <a:solidFill>
                  <a:srgbClr val="6B4F3A"/>
                </a:solidFill>
                <a:latin typeface="Calibri"/>
              </a:rPr>
              <a:t>¿Por qué investigar la Casa de la Cultura de Filadelfia?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900" b="1">
                <a:solidFill>
                  <a:srgbClr val="7C4322"/>
                </a:solidFill>
                <a:latin typeface="Calibri"/>
              </a:rPr>
              <a:t>●  Patrimonio protegido por ley</a:t>
            </a:r>
          </a:p>
          <a:p>
            <a:pPr lvl="1">
              <a:spcBef>
                <a:spcPts val="200"/>
              </a:spcBef>
            </a:pPr>
            <a:r>
              <a:rPr sz="1600">
                <a:solidFill>
                  <a:srgbClr val="4A3324"/>
                </a:solidFill>
                <a:latin typeface="Calibri"/>
              </a:rPr>
              <a:t>Declarada Patrimonio Histórico-Arquitectónico de Costa Rica desde el año 2000 (Decreto Ejecutivo N.° 28698-C).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7C4322"/>
                </a:solidFill>
                <a:latin typeface="Calibri"/>
              </a:rPr>
              <a:t>●  Construcción tradicional en riesgo</a:t>
            </a:r>
          </a:p>
          <a:p>
            <a:pPr lvl="1">
              <a:spcBef>
                <a:spcPts val="200"/>
              </a:spcBef>
            </a:pPr>
            <a:r>
              <a:rPr sz="1600">
                <a:solidFill>
                  <a:srgbClr val="4A3324"/>
                </a:solidFill>
                <a:latin typeface="Calibri"/>
              </a:rPr>
              <a:t>Edificada a mediados del siglo XIX con bahareque y madera, materiales típicos costarricenses hoy deteriorados.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7C4322"/>
                </a:solidFill>
                <a:latin typeface="Calibri"/>
              </a:rPr>
              <a:t>●  Deterioro y abandono actual</a:t>
            </a:r>
          </a:p>
          <a:p>
            <a:pPr lvl="1">
              <a:spcBef>
                <a:spcPts val="200"/>
              </a:spcBef>
            </a:pPr>
            <a:r>
              <a:rPr sz="1600">
                <a:solidFill>
                  <a:srgbClr val="4A3324"/>
                </a:solidFill>
                <a:latin typeface="Calibri"/>
              </a:rPr>
              <a:t>El edificio pertenece a la Municipalidad de Carrillo, pero se encuentra sin uso cultural y en mal estado.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7C4322"/>
                </a:solidFill>
                <a:latin typeface="Calibri"/>
              </a:rPr>
              <a:t>●  Pérdida de memoria e identidad</a:t>
            </a:r>
          </a:p>
          <a:p>
            <a:pPr lvl="1">
              <a:spcBef>
                <a:spcPts val="200"/>
              </a:spcBef>
            </a:pPr>
            <a:r>
              <a:rPr sz="1600">
                <a:solidFill>
                  <a:srgbClr val="4A3324"/>
                </a:solidFill>
                <a:latin typeface="Calibri"/>
              </a:rPr>
              <a:t>El abandono de un patrimonio así no solo afecta la construcción, sino la historia y memoria de Filadelfia.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4F3A"/>
                </a:solidFill>
                <a:latin typeface="Calibri"/>
              </a:rPr>
              <a:t>Vidrios y Celosías — no aplica · Casa de la Cultura de Filadelfia,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7C4322"/>
                </a:solidFill>
                <a:latin typeface="Trebuchet MS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5C6B3F"/>
                </a:solidFill>
                <a:latin typeface="Trebuchet MS"/>
              </a:rPr>
              <a:t>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 i="0">
                <a:solidFill>
                  <a:srgbClr val="4A3324"/>
                </a:solidFill>
                <a:latin typeface="Calibri"/>
              </a:rPr>
              <a:t>Analizar la situación actual de la Casa de la Cultura de Filadelfia como patrimonio histórico-arquitectónico, con el fin de visibilizar su importancia cultural y el riesgo en el que se encuentra.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5C6B3F"/>
                </a:solidFill>
                <a:latin typeface="Trebuchet MS"/>
              </a:rPr>
              <a:t>Específicos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4241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700" b="1">
                <a:solidFill>
                  <a:srgbClr val="7C4322"/>
                </a:solidFill>
                <a:latin typeface="Calibri"/>
              </a:rPr>
              <a:t>●  Investigar las características históricas y arquitectónicas de la Casa de la Cultura y su declaratoria como patrimonio nacional.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7C4322"/>
                </a:solidFill>
                <a:latin typeface="Calibri"/>
              </a:rPr>
              <a:t>●  Identificar el estado actual de conservación del edificio y las razones de su deterioro y falta de uso cultural.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7C4322"/>
                </a:solidFill>
                <a:latin typeface="Calibri"/>
              </a:rPr>
              <a:t>●  Reflexionar sobre el impacto que el abandono de este edificio tiene en la identidad y memoria histórica de la comunidad.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4F3A"/>
                </a:solidFill>
                <a:latin typeface="Calibri"/>
              </a:rPr>
              <a:t>Casa de la Cultura de Filadelfia,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7C4322"/>
                </a:solidFill>
                <a:latin typeface="Trebuchet MS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1">
                <a:solidFill>
                  <a:srgbClr val="6B4F3A"/>
                </a:solidFill>
                <a:latin typeface="Calibri"/>
              </a:rPr>
              <a:t>Enfoque cualitativo · Estudio de caso · Diseño no experimental y transversal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Población y muestra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Residentes de Filadelfia (10–30 personas) y funcionarios de la Municipalidad de Carrillo (3–5 personas), mediante muestreo intencional.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Entrevistas semiestructuradas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25–40 minutos, organizadas en bloques de datos generales y preguntas abiertas sobre memoria, conservación y propuestas.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Observación directa y sistemática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Visitas de campo para documentar el estado físico del inmueble (fotografías de la Figura 1 a la 20 del informe).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Consideraciones éticas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Consentimiento informado, voluntariedad, confidencialidad y los principios de autonomía, justicia, beneficencia y no maleficencia.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4F3A"/>
                </a:solidFill>
                <a:latin typeface="Calibri"/>
              </a:rPr>
              <a:t>Casa de la Cultura de Filadelfia,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7C4322"/>
                </a:solidFill>
                <a:latin typeface="Trebuchet MS"/>
              </a:rPr>
              <a:t>Estado actual de conservación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1">
                <a:solidFill>
                  <a:srgbClr val="6B4F3A"/>
                </a:solidFill>
                <a:latin typeface="Calibri"/>
              </a:rPr>
              <a:t>Hallazgos de las visitas de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6035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7C4322"/>
                </a:solidFill>
                <a:latin typeface="Calibri"/>
              </a:rPr>
              <a:t>●  Deterioro del bahareque</a:t>
            </a:r>
          </a:p>
          <a:p>
            <a:pPr lvl="1">
              <a:spcBef>
                <a:spcPts val="200"/>
              </a:spcBef>
            </a:pPr>
            <a:r>
              <a:rPr sz="1350">
                <a:solidFill>
                  <a:srgbClr val="4A3324"/>
                </a:solidFill>
                <a:latin typeface="Calibri"/>
              </a:rPr>
              <a:t>Desprendimientos que dejan sectores expuestos a la humedad y a las variaciones climáticas.</a:t>
            </a:r>
          </a:p>
          <a:p>
            <a:pPr>
              <a:spcBef>
                <a:spcPts val="1200"/>
              </a:spcBef>
            </a:pPr>
            <a:r>
              <a:rPr sz="1650" b="1">
                <a:solidFill>
                  <a:srgbClr val="7C4322"/>
                </a:solidFill>
                <a:latin typeface="Calibri"/>
              </a:rPr>
              <a:t>●  Daños en madera</a:t>
            </a:r>
          </a:p>
          <a:p>
            <a:pPr lvl="1">
              <a:spcBef>
                <a:spcPts val="200"/>
              </a:spcBef>
            </a:pPr>
            <a:r>
              <a:rPr sz="1350">
                <a:solidFill>
                  <a:srgbClr val="4A3324"/>
                </a:solidFill>
                <a:latin typeface="Calibri"/>
              </a:rPr>
              <a:t>Puertas y escaleras del segundo piso con desgaste que compromete su funcionalidad y seguridad.</a:t>
            </a:r>
          </a:p>
          <a:p>
            <a:pPr>
              <a:spcBef>
                <a:spcPts val="1200"/>
              </a:spcBef>
            </a:pPr>
            <a:r>
              <a:rPr sz="1650" b="1">
                <a:solidFill>
                  <a:srgbClr val="7C4322"/>
                </a:solidFill>
                <a:latin typeface="Calibri"/>
              </a:rPr>
              <a:t>●  Falta de mantenimiento</a:t>
            </a:r>
          </a:p>
          <a:p>
            <a:pPr lvl="1">
              <a:spcBef>
                <a:spcPts val="200"/>
              </a:spcBef>
            </a:pPr>
            <a:r>
              <a:rPr sz="1350">
                <a:solidFill>
                  <a:srgbClr val="4A3324"/>
                </a:solidFill>
                <a:latin typeface="Calibri"/>
              </a:rPr>
              <a:t>Ausencia de labores periódicas de limpieza, restauración y seguimiento.</a:t>
            </a:r>
          </a:p>
          <a:p>
            <a:pPr>
              <a:spcBef>
                <a:spcPts val="1200"/>
              </a:spcBef>
            </a:pPr>
            <a:r>
              <a:rPr sz="1650" b="1">
                <a:solidFill>
                  <a:srgbClr val="7C4322"/>
                </a:solidFill>
                <a:latin typeface="Calibri"/>
              </a:rPr>
              <a:t>●  Sin uso cultural activo</a:t>
            </a:r>
          </a:p>
          <a:p>
            <a:pPr lvl="1">
              <a:spcBef>
                <a:spcPts val="200"/>
              </a:spcBef>
            </a:pPr>
            <a:r>
              <a:rPr sz="1350">
                <a:solidFill>
                  <a:srgbClr val="4A3324"/>
                </a:solidFill>
                <a:latin typeface="Calibri"/>
              </a:rPr>
              <a:t>El segundo piso se usó para ensayos de baile hasta cerca del año 2020; hoy permanece inactivo.</a:t>
            </a:r>
          </a:p>
        </p:txBody>
      </p:sp>
      <p:pic>
        <p:nvPicPr>
          <p:cNvPr id="6" name="Picture 5" descr="foto-10.jpg"/>
          <p:cNvPicPr>
            <a:picLocks noChangeAspect="1"/>
          </p:cNvPicPr>
          <p:nvPr/>
        </p:nvPicPr>
        <p:blipFill>
          <a:blip r:embed="rId2"/>
          <a:srcRect l="-11905" r="-11905"/>
          <a:stretch>
            <a:fillRect/>
          </a:stretch>
        </p:blipFill>
        <p:spPr>
          <a:xfrm>
            <a:off x="7315200" y="1691640"/>
            <a:ext cx="416052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4F3A"/>
                </a:solidFill>
                <a:latin typeface="Calibri"/>
              </a:rPr>
              <a:t>Casa de la Cultura de Filadelfia,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7C4322"/>
                </a:solidFill>
                <a:latin typeface="Trebuchet MS"/>
              </a:rPr>
              <a:t>Memoria viva de la comunidad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1">
                <a:solidFill>
                  <a:srgbClr val="6B4F3A"/>
                </a:solidFill>
                <a:latin typeface="Calibri"/>
              </a:rPr>
              <a:t>Identidad cultural, recuerdos y preocupación por el abandono</a:t>
            </a:r>
          </a:p>
        </p:txBody>
      </p:sp>
      <p:pic>
        <p:nvPicPr>
          <p:cNvPr id="5" name="Picture 4" descr="foto-41.jpg"/>
          <p:cNvPicPr>
            <a:picLocks noChangeAspect="1"/>
          </p:cNvPicPr>
          <p:nvPr/>
        </p:nvPicPr>
        <p:blipFill>
          <a:blip r:embed="rId2"/>
          <a:srcRect l="-12585" r="-12585"/>
          <a:stretch>
            <a:fillRect/>
          </a:stretch>
        </p:blipFill>
        <p:spPr>
          <a:xfrm>
            <a:off x="777240" y="1691640"/>
            <a:ext cx="42062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57800" y="1783080"/>
            <a:ext cx="62179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i="1" sz="1900">
                <a:solidFill>
                  <a:srgbClr val="4A3324"/>
                </a:solidFill>
                <a:latin typeface="Calibri"/>
              </a:rPr>
              <a:t>"Durante aproximadamente veinte años me dediqué al cuidado de la casa y a la formación de grupos de baile folclórico, transmitiendo bailes como ‘La Marcha Esquivel’, una manifestación cultural poco conocida hoy."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7C4322"/>
                </a:solidFill>
                <a:latin typeface="Calibri"/>
              </a:rPr>
              <a:t>— Doña Magdalena, vecina de Filadelfia</a:t>
            </a:r>
          </a:p>
          <a:p>
            <a:pPr>
              <a:spcBef>
                <a:spcPts val="2200"/>
              </a:spcBef>
            </a:pPr>
            <a:r>
              <a:rPr sz="1650">
                <a:solidFill>
                  <a:srgbClr val="4A3324"/>
                </a:solidFill>
                <a:latin typeface="Calibri"/>
              </a:rPr>
              <a:t>Las entrevistas revelaron tres ejes centrales: la identidad cultural que representa el edificio, los recuerdos y experiencias vividos en él, y la preocupación de la comunidad por su abandono y la pérdida de actividades que antes conectaban a las nuevas generaciones con su historia.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4F3A"/>
                </a:solidFill>
                <a:latin typeface="Calibri"/>
              </a:rPr>
              <a:t>Casa de la Cultura de Filadelfia,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7C4322"/>
                </a:solidFill>
                <a:latin typeface="Trebuchet MS"/>
              </a:rPr>
              <a:t>Propuestas de la comunidad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1">
                <a:solidFill>
                  <a:srgbClr val="6B4F3A"/>
                </a:solidFill>
                <a:latin typeface="Calibri"/>
              </a:rPr>
              <a:t>Todavía se puede recuperar este patrimonio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Restauración del edificio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Reparar el bahareque, la madera y la estructura antes de que el deterioro avance más.</a:t>
            </a:r>
          </a:p>
          <a:p>
            <a:pPr>
              <a:spcBef>
                <a:spcPts val="11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Reapertura para actividades culturales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Recuperar bailes folclóricos, música tradicional y reuniones comunales.</a:t>
            </a:r>
          </a:p>
          <a:p>
            <a:pPr>
              <a:spcBef>
                <a:spcPts val="11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Creación de un museo local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Exhibir fotografías, documentos y objetos históricos de Filadelfia.</a:t>
            </a:r>
          </a:p>
          <a:p>
            <a:pPr>
              <a:spcBef>
                <a:spcPts val="11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Programas educativos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Talleres y charlas para que niños y jóvenes conozcan su historia.</a:t>
            </a:r>
          </a:p>
          <a:p>
            <a:pPr>
              <a:spcBef>
                <a:spcPts val="1100"/>
              </a:spcBef>
            </a:pPr>
            <a:r>
              <a:rPr sz="1800" b="1">
                <a:solidFill>
                  <a:srgbClr val="7C4322"/>
                </a:solidFill>
                <a:latin typeface="Calibri"/>
              </a:rPr>
              <a:t>●  Trabajo conjunto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4A3324"/>
                </a:solidFill>
                <a:latin typeface="Calibri"/>
              </a:rPr>
              <a:t>Coordinación entre la Municipalidad de Carrillo, el Ministerio de Cultura y la comunidad.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4F3A"/>
                </a:solidFill>
                <a:latin typeface="Calibri"/>
              </a:rPr>
              <a:t>Casa de la Cultura de Filadelfia,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6675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Trebuchet MS"/>
              </a:rPr>
              <a:t>Museo Virtual</a:t>
            </a:r>
          </a:p>
          <a:p>
            <a:pPr algn="l">
              <a:spcBef>
                <a:spcPts val="400"/>
              </a:spcBef>
            </a:pPr>
            <a:r>
              <a:rPr sz="2000" b="0" i="1">
                <a:solidFill>
                  <a:srgbClr val="E8DCC4"/>
                </a:solidFill>
                <a:latin typeface="Calibri"/>
              </a:rPr>
              <a:t>Casa de la Cultura de Filadelfia</a:t>
            </a:r>
          </a:p>
          <a:p>
            <a:pPr algn="l">
              <a:spcBef>
                <a:spcPts val="2000"/>
              </a:spcBef>
            </a:pPr>
            <a:r>
              <a:rPr sz="1650" b="0" i="0">
                <a:solidFill>
                  <a:srgbClr val="F4ECDF"/>
                </a:solidFill>
                <a:latin typeface="Calibri"/>
              </a:rPr>
              <a:t>Escanea el código QR con la cámara de tu celular para recorrer la galería completa de fotografías y conocer la historia, el estado actual y las propuestas de la comunidad.</a:t>
            </a:r>
          </a:p>
          <a:p>
            <a:pPr algn="l">
              <a:spcBef>
                <a:spcPts val="1800"/>
              </a:spcBef>
            </a:pPr>
            <a:r>
              <a:rPr sz="1400" b="0" i="1">
                <a:solidFill>
                  <a:srgbClr val="E0B080"/>
                </a:solidFill>
                <a:latin typeface="Calibri"/>
              </a:rPr>
              <a:t>Funciona desde cualquier celular con internet, en cualquier momento.</a:t>
            </a:r>
          </a:p>
          <a:p>
            <a:pPr algn="l">
              <a:spcBef>
                <a:spcPts val="1000"/>
              </a:spcBef>
            </a:pPr>
            <a:r>
              <a:rPr sz="1250" b="0" i="0">
                <a:solidFill>
                  <a:srgbClr val="E8DCC4"/>
                </a:solidFill>
                <a:latin typeface="Calibri"/>
              </a:rPr>
              <a:t>kendallquirosalvarez-prog.github.io/museo-casa-cultura-filadelfia</a:t>
            </a:r>
          </a:p>
        </p:txBody>
      </p:sp>
      <p:pic>
        <p:nvPicPr>
          <p:cNvPr id="4" name="Picture 3" descr="qr-mus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1280160"/>
            <a:ext cx="429768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46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E8DCC4"/>
                </a:solidFill>
                <a:latin typeface="Calibri"/>
              </a:rPr>
              <a:t>Casa de la Cultura de Filadelfia,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42416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4000" b="1" i="0">
                <a:solidFill>
                  <a:srgbClr val="7C4322"/>
                </a:solidFill>
                <a:latin typeface="Trebuchet MS"/>
              </a:rPr>
              <a:t>¡Gracias!</a:t>
            </a:r>
          </a:p>
          <a:p>
            <a:pPr algn="ctr">
              <a:spcBef>
                <a:spcPts val="1600"/>
              </a:spcBef>
            </a:pPr>
            <a:r>
              <a:rPr sz="1600" b="0" i="0">
                <a:solidFill>
                  <a:srgbClr val="4A3324"/>
                </a:solidFill>
                <a:latin typeface="Calibri"/>
              </a:rPr>
              <a:t>Keiry Campos Castro · Katherine Polanco Landeros · Karen Picado Espinoza · Kendall Quirós Alvarez</a:t>
            </a:r>
          </a:p>
          <a:p>
            <a:pPr algn="ctr">
              <a:spcBef>
                <a:spcPts val="600"/>
              </a:spcBef>
            </a:pPr>
            <a:r>
              <a:rPr sz="1300" b="0" i="1">
                <a:solidFill>
                  <a:srgbClr val="6B4F3A"/>
                </a:solidFill>
                <a:latin typeface="Calibri"/>
              </a:rPr>
              <a:t>Universidad de Costa Rica · SR-0033 Seminario de Realidad Nacional II — Patrimonio Cultural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